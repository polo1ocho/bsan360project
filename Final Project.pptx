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sldIdLst>
    <p:sldId id="256" r:id="rId2"/>
    <p:sldId id="258" r:id="rId3"/>
    <p:sldId id="257"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05"/>
    <p:restoredTop sz="94839"/>
  </p:normalViewPr>
  <p:slideViewPr>
    <p:cSldViewPr snapToGrid="0">
      <p:cViewPr varScale="1">
        <p:scale>
          <a:sx n="101" d="100"/>
          <a:sy n="101" d="100"/>
        </p:scale>
        <p:origin x="10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2C6CAB5E-3A9D-294C-B5B6-2114DDB2947A}" type="datetimeFigureOut">
              <a:rPr lang="en-US" smtClean="0"/>
              <a:t>12/11/25</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2055983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6CAB5E-3A9D-294C-B5B6-2114DDB2947A}" type="datetimeFigureOut">
              <a:rPr lang="en-US" smtClean="0"/>
              <a:t>12/11/25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2866439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2C6CAB5E-3A9D-294C-B5B6-2114DDB2947A}" type="datetimeFigureOut">
              <a:rPr lang="en-US" smtClean="0"/>
              <a:t>12/11/25</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3753698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6CAB5E-3A9D-294C-B5B6-2114DDB2947A}" type="datetimeFigureOut">
              <a:rPr lang="en-US" smtClean="0"/>
              <a:t>12/11/25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1498072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6CAB5E-3A9D-294C-B5B6-2114DDB2947A}" type="datetimeFigureOut">
              <a:rPr lang="en-US" smtClean="0"/>
              <a:t>12/11/25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4283834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6CAB5E-3A9D-294C-B5B6-2114DDB2947A}" type="datetimeFigureOut">
              <a:rPr lang="en-US" smtClean="0"/>
              <a:t>12/11/25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2748052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CAB5E-3A9D-294C-B5B6-2114DDB2947A}" type="datetimeFigureOut">
              <a:rPr lang="en-US" smtClean="0"/>
              <a:t>12/11/25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1456619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6CAB5E-3A9D-294C-B5B6-2114DDB2947A}" type="datetimeFigureOut">
              <a:rPr lang="en-US" smtClean="0"/>
              <a:t>12/11/25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414457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6CAB5E-3A9D-294C-B5B6-2114DDB2947A}" type="datetimeFigureOut">
              <a:rPr lang="en-US" smtClean="0"/>
              <a:t>12/11/25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2211919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6CAB5E-3A9D-294C-B5B6-2114DDB2947A}" type="datetimeFigureOut">
              <a:rPr lang="en-US" smtClean="0"/>
              <a:t>12/11/25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1915401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C6CAB5E-3A9D-294C-B5B6-2114DDB2947A}" type="datetimeFigureOut">
              <a:rPr lang="en-US" smtClean="0"/>
              <a:t>12/11/25</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979399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C6CAB5E-3A9D-294C-B5B6-2114DDB2947A}" type="datetimeFigureOut">
              <a:rPr lang="en-US" smtClean="0"/>
              <a:t>12/11/25</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922B97F2-54A4-9A45-B034-D835DC512B16}"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54920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2C6CAB5E-3A9D-294C-B5B6-2114DDB2947A}" type="datetimeFigureOut">
              <a:rPr lang="en-US" smtClean="0"/>
              <a:t>12/11/25</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18364322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C6CAB5E-3A9D-294C-B5B6-2114DDB2947A}" type="datetimeFigureOut">
              <a:rPr lang="en-US" smtClean="0"/>
              <a:t>12/11/25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22038549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C6CAB5E-3A9D-294C-B5B6-2114DDB2947A}" type="datetimeFigureOut">
              <a:rPr lang="en-US" smtClean="0"/>
              <a:t>12/11/25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26824626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6CAB5E-3A9D-294C-B5B6-2114DDB2947A}" type="datetimeFigureOut">
              <a:rPr lang="en-US" smtClean="0"/>
              <a:t>12/11/25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1512382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2C6CAB5E-3A9D-294C-B5B6-2114DDB2947A}" type="datetimeFigureOut">
              <a:rPr lang="en-US" smtClean="0"/>
              <a:t>12/11/25</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922B97F2-54A4-9A45-B034-D835DC512B16}" type="slidenum">
              <a:rPr lang="en-US" smtClean="0"/>
              <a:t>‹#›</a:t>
            </a:fld>
            <a:endParaRPr lang="en-US"/>
          </a:p>
        </p:txBody>
      </p:sp>
    </p:spTree>
    <p:extLst>
      <p:ext uri="{BB962C8B-B14F-4D97-AF65-F5344CB8AC3E}">
        <p14:creationId xmlns:p14="http://schemas.microsoft.com/office/powerpoint/2010/main" val="2026955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C6CAB5E-3A9D-294C-B5B6-2114DDB2947A}" type="datetimeFigureOut">
              <a:rPr lang="en-US" smtClean="0"/>
              <a:t>12/11/25</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22B97F2-54A4-9A45-B034-D835DC512B16}" type="slidenum">
              <a:rPr lang="en-US" smtClean="0"/>
              <a:t>‹#›</a:t>
            </a:fld>
            <a:endParaRPr lang="en-US"/>
          </a:p>
        </p:txBody>
      </p:sp>
    </p:spTree>
    <p:extLst>
      <p:ext uri="{BB962C8B-B14F-4D97-AF65-F5344CB8AC3E}">
        <p14:creationId xmlns:p14="http://schemas.microsoft.com/office/powerpoint/2010/main" val="2322980739"/>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basketball-reference.com/players/m/maxeyty01/gamelog/202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AD7E4-BCD2-2091-067B-86A1CFB95397}"/>
              </a:ext>
            </a:extLst>
          </p:cNvPr>
          <p:cNvSpPr>
            <a:spLocks noGrp="1"/>
          </p:cNvSpPr>
          <p:nvPr>
            <p:ph type="ctrTitle"/>
          </p:nvPr>
        </p:nvSpPr>
        <p:spPr/>
        <p:txBody>
          <a:bodyPr/>
          <a:lstStyle/>
          <a:p>
            <a:pPr algn="ctr"/>
            <a:r>
              <a:rPr lang="en-US" dirty="0">
                <a:latin typeface="Calibri" panose="020F0502020204030204" pitchFamily="34" charset="0"/>
                <a:cs typeface="Calibri" panose="020F0502020204030204" pitchFamily="34" charset="0"/>
              </a:rPr>
              <a:t>Analyzing Tyrese Maxey’s 3-point Performance</a:t>
            </a:r>
          </a:p>
        </p:txBody>
      </p:sp>
      <p:sp>
        <p:nvSpPr>
          <p:cNvPr id="3" name="Subtitle 2">
            <a:extLst>
              <a:ext uri="{FF2B5EF4-FFF2-40B4-BE49-F238E27FC236}">
                <a16:creationId xmlns:a16="http://schemas.microsoft.com/office/drawing/2014/main" id="{280D1E53-13A7-0F75-85E9-996492823A4A}"/>
              </a:ext>
            </a:extLst>
          </p:cNvPr>
          <p:cNvSpPr>
            <a:spLocks noGrp="1"/>
          </p:cNvSpPr>
          <p:nvPr>
            <p:ph type="subTitle" idx="1"/>
          </p:nvPr>
        </p:nvSpPr>
        <p:spPr>
          <a:xfrm>
            <a:off x="1371600" y="3563189"/>
            <a:ext cx="9448800" cy="1517769"/>
          </a:xfrm>
        </p:spPr>
        <p:txBody>
          <a:bodyPr>
            <a:normAutofit/>
          </a:bodyPr>
          <a:lstStyle/>
          <a:p>
            <a:r>
              <a:rPr lang="en-US" sz="1800" dirty="0">
                <a:latin typeface="Calibri" panose="020F0502020204030204" pitchFamily="34" charset="0"/>
                <a:cs typeface="Calibri" panose="020F0502020204030204" pitchFamily="34" charset="0"/>
              </a:rPr>
              <a:t>Marcel Allen Jr</a:t>
            </a:r>
          </a:p>
          <a:p>
            <a:r>
              <a:rPr lang="en-US" sz="1800" dirty="0">
                <a:latin typeface="Calibri" panose="020F0502020204030204" pitchFamily="34" charset="0"/>
                <a:cs typeface="Calibri" panose="020F0502020204030204" pitchFamily="34" charset="0"/>
              </a:rPr>
              <a:t>12/10/2025</a:t>
            </a:r>
          </a:p>
          <a:p>
            <a:r>
              <a:rPr lang="en-US" sz="1800" dirty="0">
                <a:latin typeface="Calibri" panose="020F0502020204030204" pitchFamily="34" charset="0"/>
                <a:cs typeface="Calibri" panose="020F0502020204030204" pitchFamily="34" charset="0"/>
              </a:rPr>
              <a:t>BSAN-360-001</a:t>
            </a:r>
          </a:p>
          <a:p>
            <a:r>
              <a:rPr lang="en-US" sz="1800" dirty="0">
                <a:latin typeface="Calibri" panose="020F0502020204030204" pitchFamily="34" charset="0"/>
                <a:cs typeface="Calibri" panose="020F0502020204030204" pitchFamily="34" charset="0"/>
              </a:rPr>
              <a:t>GitHub Repository:</a:t>
            </a:r>
          </a:p>
        </p:txBody>
      </p:sp>
    </p:spTree>
    <p:extLst>
      <p:ext uri="{BB962C8B-B14F-4D97-AF65-F5344CB8AC3E}">
        <p14:creationId xmlns:p14="http://schemas.microsoft.com/office/powerpoint/2010/main" val="3887891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6F5D9-2FBD-FF93-3DF1-4CEBD73897BA}"/>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Introducing my data set</a:t>
            </a:r>
            <a:endParaRPr lang="en-US" dirty="0"/>
          </a:p>
        </p:txBody>
      </p:sp>
      <p:sp>
        <p:nvSpPr>
          <p:cNvPr id="3" name="Content Placeholder 2">
            <a:extLst>
              <a:ext uri="{FF2B5EF4-FFF2-40B4-BE49-F238E27FC236}">
                <a16:creationId xmlns:a16="http://schemas.microsoft.com/office/drawing/2014/main" id="{1FDEB9D2-EEF3-9F08-C5AA-D4717595B858}"/>
              </a:ext>
            </a:extLst>
          </p:cNvPr>
          <p:cNvSpPr>
            <a:spLocks noGrp="1"/>
          </p:cNvSpPr>
          <p:nvPr>
            <p:ph idx="1"/>
          </p:nvPr>
        </p:nvSpPr>
        <p:spPr>
          <a:xfrm>
            <a:off x="685800" y="2194560"/>
            <a:ext cx="11036300" cy="4024125"/>
          </a:xfrm>
        </p:spPr>
        <p:txBody>
          <a:bodyPr/>
          <a:lstStyle/>
          <a:p>
            <a:pPr marL="0" indent="0">
              <a:buNone/>
            </a:pPr>
            <a:r>
              <a:rPr lang="en-US" b="1" dirty="0">
                <a:latin typeface="Calibri" panose="020F0502020204030204" pitchFamily="34" charset="0"/>
                <a:cs typeface="Calibri" panose="020F0502020204030204" pitchFamily="34" charset="0"/>
              </a:rPr>
              <a:t>Datasets</a:t>
            </a:r>
            <a:r>
              <a:rPr lang="en-US" dirty="0">
                <a:latin typeface="Calibri" panose="020F0502020204030204" pitchFamily="34" charset="0"/>
                <a:cs typeface="Calibri" panose="020F0502020204030204" pitchFamily="34" charset="0"/>
              </a:rPr>
              <a:t>: Tyrese Maxey Game Logs</a:t>
            </a:r>
          </a:p>
          <a:p>
            <a:r>
              <a:rPr lang="en-US" dirty="0">
                <a:latin typeface="Calibri" panose="020F0502020204030204" pitchFamily="34" charset="0"/>
                <a:cs typeface="Calibri" panose="020F0502020204030204" pitchFamily="34" charset="0"/>
              </a:rPr>
              <a:t>Files Used (Excel): 5 seasons of Tyrese Maxey regular-season game logs (2020–21 through 2024–25)</a:t>
            </a:r>
          </a:p>
          <a:p>
            <a:r>
              <a:rPr lang="en-US" dirty="0">
                <a:latin typeface="Calibri" panose="020F0502020204030204" pitchFamily="34" charset="0"/>
                <a:cs typeface="Calibri" panose="020F0502020204030204" pitchFamily="34" charset="0"/>
              </a:rPr>
              <a:t>Source: Basketball-Reference</a:t>
            </a:r>
          </a:p>
          <a:p>
            <a:r>
              <a:rPr lang="en-US" dirty="0">
                <a:latin typeface="Calibri" panose="020F0502020204030204" pitchFamily="34" charset="0"/>
                <a:cs typeface="Calibri" panose="020F0502020204030204" pitchFamily="34" charset="0"/>
              </a:rPr>
              <a:t> Dataset Link: </a:t>
            </a:r>
            <a:r>
              <a:rPr lang="en-US" dirty="0">
                <a:latin typeface="Calibri" panose="020F0502020204030204" pitchFamily="34" charset="0"/>
                <a:cs typeface="Calibri" panose="020F0502020204030204" pitchFamily="34" charset="0"/>
                <a:hlinkClick r:id="rId2"/>
              </a:rPr>
              <a:t>https://www.basketball-reference.com/players/m/maxeyty01/gamelog/2021</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cs typeface="Calibri" panose="020F0502020204030204" pitchFamily="34" charset="0"/>
              </a:rPr>
              <a:t>Overall size </a:t>
            </a:r>
            <a:r>
              <a:rPr lang="en-US" dirty="0">
                <a:latin typeface="Calibri" panose="020F0502020204030204" pitchFamily="34" charset="0"/>
                <a:cs typeface="Calibri" panose="020F0502020204030204" pitchFamily="34" charset="0"/>
              </a:rPr>
              <a:t>(cleaned data):</a:t>
            </a:r>
          </a:p>
          <a:p>
            <a:r>
              <a:rPr lang="en-US" dirty="0">
                <a:latin typeface="Calibri" panose="020F0502020204030204" pitchFamily="34" charset="0"/>
                <a:cs typeface="Calibri" panose="020F0502020204030204" pitchFamily="34" charset="0"/>
              </a:rPr>
              <a:t>400 rows (Dates of Games Played)</a:t>
            </a:r>
          </a:p>
          <a:p>
            <a:r>
              <a:rPr lang="en-US" dirty="0">
                <a:latin typeface="Calibri" panose="020F0502020204030204" pitchFamily="34" charset="0"/>
                <a:cs typeface="Calibri" panose="020F0502020204030204" pitchFamily="34" charset="0"/>
              </a:rPr>
              <a:t>17 columns (Performance Metrics)</a:t>
            </a:r>
          </a:p>
          <a:p>
            <a:pPr marL="0" indent="0">
              <a:buNone/>
            </a:pPr>
            <a:endParaRPr lang="en-US" dirty="0">
              <a:latin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16799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C42D-6D68-0940-CD0C-1806B7027937}"/>
              </a:ext>
            </a:extLst>
          </p:cNvPr>
          <p:cNvSpPr>
            <a:spLocks noGrp="1"/>
          </p:cNvSpPr>
          <p:nvPr>
            <p:ph type="title"/>
          </p:nvPr>
        </p:nvSpPr>
        <p:spPr>
          <a:xfrm>
            <a:off x="2387600" y="292100"/>
            <a:ext cx="8610600" cy="1293028"/>
          </a:xfrm>
        </p:spPr>
        <p:txBody>
          <a:bodyPr/>
          <a:lstStyle/>
          <a:p>
            <a:r>
              <a:rPr lang="en-US" dirty="0">
                <a:latin typeface="Calibri" panose="020F0502020204030204" pitchFamily="34" charset="0"/>
                <a:cs typeface="Calibri" panose="020F0502020204030204" pitchFamily="34" charset="0"/>
              </a:rPr>
              <a:t>Cleaned Data Overview</a:t>
            </a:r>
          </a:p>
        </p:txBody>
      </p:sp>
      <p:sp>
        <p:nvSpPr>
          <p:cNvPr id="3" name="Content Placeholder 2">
            <a:extLst>
              <a:ext uri="{FF2B5EF4-FFF2-40B4-BE49-F238E27FC236}">
                <a16:creationId xmlns:a16="http://schemas.microsoft.com/office/drawing/2014/main" id="{42BCEDBD-EAF2-9A73-8056-B29158A85989}"/>
              </a:ext>
            </a:extLst>
          </p:cNvPr>
          <p:cNvSpPr>
            <a:spLocks noGrp="1"/>
          </p:cNvSpPr>
          <p:nvPr>
            <p:ph idx="1"/>
          </p:nvPr>
        </p:nvSpPr>
        <p:spPr>
          <a:xfrm>
            <a:off x="546100" y="1889760"/>
            <a:ext cx="5410200" cy="4371340"/>
          </a:xfrm>
        </p:spPr>
        <p:txBody>
          <a:bodyPr>
            <a:normAutofit lnSpcReduction="10000"/>
          </a:bodyPr>
          <a:lstStyle/>
          <a:p>
            <a:pPr marL="0" indent="0">
              <a:buNone/>
            </a:pPr>
            <a:r>
              <a:rPr lang="en-US" b="1" dirty="0">
                <a:latin typeface="Calibri" panose="020F0502020204030204" pitchFamily="34" charset="0"/>
                <a:cs typeface="Calibri" panose="020F0502020204030204" pitchFamily="34" charset="0"/>
              </a:rPr>
              <a:t>Columns Collected:</a:t>
            </a:r>
          </a:p>
          <a:p>
            <a:r>
              <a:rPr lang="en-US" sz="1600" dirty="0">
                <a:latin typeface="Calibri" panose="020F0502020204030204" pitchFamily="34" charset="0"/>
                <a:cs typeface="Calibri" panose="020F0502020204030204" pitchFamily="34" charset="0"/>
              </a:rPr>
              <a:t>Season</a:t>
            </a:r>
          </a:p>
          <a:p>
            <a:r>
              <a:rPr lang="en-US" sz="1600" dirty="0">
                <a:latin typeface="Calibri" panose="020F0502020204030204" pitchFamily="34" charset="0"/>
                <a:cs typeface="Calibri" panose="020F0502020204030204" pitchFamily="34" charset="0"/>
              </a:rPr>
              <a:t>Location</a:t>
            </a:r>
          </a:p>
          <a:p>
            <a:r>
              <a:rPr lang="en-US" sz="1600" dirty="0">
                <a:latin typeface="Calibri" panose="020F0502020204030204" pitchFamily="34" charset="0"/>
                <a:cs typeface="Calibri" panose="020F0502020204030204" pitchFamily="34" charset="0"/>
              </a:rPr>
              <a:t>Opponent</a:t>
            </a:r>
          </a:p>
          <a:p>
            <a:r>
              <a:rPr lang="en-US" sz="1600" dirty="0">
                <a:latin typeface="Calibri" panose="020F0502020204030204" pitchFamily="34" charset="0"/>
                <a:cs typeface="Calibri" panose="020F0502020204030204" pitchFamily="34" charset="0"/>
              </a:rPr>
              <a:t>Score</a:t>
            </a:r>
          </a:p>
          <a:p>
            <a:r>
              <a:rPr lang="en-US" sz="1600" dirty="0">
                <a:latin typeface="Calibri" panose="020F0502020204030204" pitchFamily="34" charset="0"/>
                <a:cs typeface="Calibri" panose="020F0502020204030204" pitchFamily="34" charset="0"/>
              </a:rPr>
              <a:t>Win or Loss</a:t>
            </a:r>
          </a:p>
          <a:p>
            <a:r>
              <a:rPr lang="en-US" sz="1600" dirty="0">
                <a:latin typeface="Calibri" panose="020F0502020204030204" pitchFamily="34" charset="0"/>
                <a:cs typeface="Calibri" panose="020F0502020204030204" pitchFamily="34" charset="0"/>
              </a:rPr>
              <a:t>GS (Games Tyrese Started)</a:t>
            </a:r>
          </a:p>
          <a:p>
            <a:r>
              <a:rPr lang="en-US" sz="1600" dirty="0">
                <a:latin typeface="Calibri" panose="020F0502020204030204" pitchFamily="34" charset="0"/>
                <a:cs typeface="Calibri" panose="020F0502020204030204" pitchFamily="34" charset="0"/>
              </a:rPr>
              <a:t>3P (3 Points Made Per Game)</a:t>
            </a:r>
          </a:p>
          <a:p>
            <a:r>
              <a:rPr lang="en-US" sz="1600" dirty="0">
                <a:latin typeface="Calibri" panose="020F0502020204030204" pitchFamily="34" charset="0"/>
                <a:cs typeface="Calibri" panose="020F0502020204030204" pitchFamily="34" charset="0"/>
              </a:rPr>
              <a:t>3PA (3 Points Attempted Per Game)</a:t>
            </a:r>
          </a:p>
          <a:p>
            <a:r>
              <a:rPr lang="en-US" sz="1600" dirty="0">
                <a:latin typeface="Calibri" panose="020F0502020204030204" pitchFamily="34" charset="0"/>
                <a:cs typeface="Calibri" panose="020F0502020204030204" pitchFamily="34" charset="0"/>
              </a:rPr>
              <a:t>3P%  (What Percentage Tyrese Made Per Game)</a:t>
            </a:r>
          </a:p>
          <a:p>
            <a:r>
              <a:rPr lang="en-US" sz="1600" dirty="0">
                <a:latin typeface="Calibri" panose="020F0502020204030204" pitchFamily="34" charset="0"/>
                <a:cs typeface="Calibri" panose="020F0502020204030204" pitchFamily="34" charset="0"/>
              </a:rPr>
              <a:t>PTS (Points Score Per Game)</a:t>
            </a:r>
          </a:p>
          <a:p>
            <a:r>
              <a:rPr lang="en-US" sz="1600" dirty="0">
                <a:latin typeface="Calibri" panose="020F0502020204030204" pitchFamily="34" charset="0"/>
                <a:cs typeface="Calibri" panose="020F0502020204030204" pitchFamily="34" charset="0"/>
              </a:rPr>
              <a:t>Team Score</a:t>
            </a:r>
          </a:p>
          <a:p>
            <a:r>
              <a:rPr lang="en-US" sz="1600" dirty="0">
                <a:latin typeface="Calibri" panose="020F0502020204030204" pitchFamily="34" charset="0"/>
                <a:cs typeface="Calibri" panose="020F0502020204030204" pitchFamily="34" charset="0"/>
              </a:rPr>
              <a:t>Opponent Score</a:t>
            </a:r>
          </a:p>
          <a:p>
            <a:endParaRPr lang="en-US"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8995A07-9506-553C-4F4F-033F145762A5}"/>
              </a:ext>
            </a:extLst>
          </p:cNvPr>
          <p:cNvSpPr txBox="1"/>
          <p:nvPr/>
        </p:nvSpPr>
        <p:spPr>
          <a:xfrm>
            <a:off x="5818629" y="3087568"/>
            <a:ext cx="5827271" cy="2585323"/>
          </a:xfrm>
          <a:prstGeom prst="rect">
            <a:avLst/>
          </a:prstGeom>
          <a:noFill/>
        </p:spPr>
        <p:txBody>
          <a:bodyPr wrap="square" rtlCol="0">
            <a:spAutoFit/>
          </a:bodyPr>
          <a:lstStyle/>
          <a:p>
            <a:pPr algn="ctr"/>
            <a:r>
              <a:rPr lang="en-US" dirty="0">
                <a:latin typeface="Calibri" panose="020F0502020204030204" pitchFamily="34" charset="0"/>
                <a:cs typeface="Calibri" panose="020F0502020204030204" pitchFamily="34" charset="0"/>
              </a:rPr>
              <a:t>I chose to collect these variables because together they capture when the game was played, the context of the game, and how Maxey performed. The game information (season, location, opponent, score, team score, opponent score, win or loss, and games started) provides overall context. The shooting and scoring variables (3P, 3PA, 3P%, and PTS) summarize his production and efficiency from the three. Collecting all of these allows me to explore patterns in his performance across different situations.</a:t>
            </a:r>
          </a:p>
        </p:txBody>
      </p:sp>
      <p:sp>
        <p:nvSpPr>
          <p:cNvPr id="8" name="TextBox 7">
            <a:extLst>
              <a:ext uri="{FF2B5EF4-FFF2-40B4-BE49-F238E27FC236}">
                <a16:creationId xmlns:a16="http://schemas.microsoft.com/office/drawing/2014/main" id="{6F44250D-7414-F31F-BDDE-FDE52985A3E1}"/>
              </a:ext>
            </a:extLst>
          </p:cNvPr>
          <p:cNvSpPr txBox="1"/>
          <p:nvPr/>
        </p:nvSpPr>
        <p:spPr>
          <a:xfrm>
            <a:off x="7038883" y="2499359"/>
            <a:ext cx="3386761"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Why Did I collect these variables?</a:t>
            </a:r>
          </a:p>
        </p:txBody>
      </p:sp>
    </p:spTree>
    <p:extLst>
      <p:ext uri="{BB962C8B-B14F-4D97-AF65-F5344CB8AC3E}">
        <p14:creationId xmlns:p14="http://schemas.microsoft.com/office/powerpoint/2010/main" val="1058446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E1FD3-086E-2689-9037-79196D50641C}"/>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Descriptive statistics</a:t>
            </a:r>
          </a:p>
        </p:txBody>
      </p:sp>
      <p:sp>
        <p:nvSpPr>
          <p:cNvPr id="3" name="Content Placeholder 2">
            <a:extLst>
              <a:ext uri="{FF2B5EF4-FFF2-40B4-BE49-F238E27FC236}">
                <a16:creationId xmlns:a16="http://schemas.microsoft.com/office/drawing/2014/main" id="{44F4B833-DEE7-1F31-1329-722F4262040B}"/>
              </a:ext>
            </a:extLst>
          </p:cNvPr>
          <p:cNvSpPr>
            <a:spLocks noGrp="1"/>
          </p:cNvSpPr>
          <p:nvPr>
            <p:ph idx="1"/>
          </p:nvPr>
        </p:nvSpPr>
        <p:spPr>
          <a:xfrm>
            <a:off x="1130300" y="3870961"/>
            <a:ext cx="3784600" cy="2606040"/>
          </a:xfrm>
        </p:spPr>
        <p:txBody>
          <a:bodyPr>
            <a:normAutofit/>
          </a:bodyPr>
          <a:lstStyle/>
          <a:p>
            <a:pPr marL="0" indent="0">
              <a:buNone/>
            </a:pPr>
            <a:r>
              <a:rPr lang="en-US" sz="1800" b="1" dirty="0">
                <a:latin typeface="Calibri" panose="020F0502020204030204" pitchFamily="34" charset="0"/>
                <a:cs typeface="Calibri" panose="020F0502020204030204" pitchFamily="34" charset="0"/>
              </a:rPr>
              <a:t>Sixers games per season in data set:</a:t>
            </a:r>
          </a:p>
          <a:p>
            <a:r>
              <a:rPr lang="en-US" sz="1800" dirty="0">
                <a:latin typeface="Calibri" panose="020F0502020204030204" pitchFamily="34" charset="0"/>
                <a:cs typeface="Calibri" panose="020F0502020204030204" pitchFamily="34" charset="0"/>
              </a:rPr>
              <a:t>2020–21: 72 games</a:t>
            </a:r>
          </a:p>
          <a:p>
            <a:r>
              <a:rPr lang="en-US" sz="1800" dirty="0">
                <a:latin typeface="Calibri" panose="020F0502020204030204" pitchFamily="34" charset="0"/>
                <a:cs typeface="Calibri" panose="020F0502020204030204" pitchFamily="34" charset="0"/>
              </a:rPr>
              <a:t>2021–22: 82 games</a:t>
            </a:r>
          </a:p>
          <a:p>
            <a:r>
              <a:rPr lang="en-US" sz="1800" dirty="0">
                <a:latin typeface="Calibri" panose="020F0502020204030204" pitchFamily="34" charset="0"/>
                <a:cs typeface="Calibri" panose="020F0502020204030204" pitchFamily="34" charset="0"/>
              </a:rPr>
              <a:t>2022–23: 82 games</a:t>
            </a:r>
          </a:p>
          <a:p>
            <a:r>
              <a:rPr lang="en-US" sz="1800" dirty="0">
                <a:latin typeface="Calibri" panose="020F0502020204030204" pitchFamily="34" charset="0"/>
                <a:cs typeface="Calibri" panose="020F0502020204030204" pitchFamily="34" charset="0"/>
              </a:rPr>
              <a:t>2023–24: 82 games</a:t>
            </a:r>
          </a:p>
          <a:p>
            <a:r>
              <a:rPr lang="en-US" sz="1800" dirty="0">
                <a:latin typeface="Calibri" panose="020F0502020204030204" pitchFamily="34" charset="0"/>
                <a:cs typeface="Calibri" panose="020F0502020204030204" pitchFamily="34" charset="0"/>
              </a:rPr>
              <a:t>2024–25: 82 games</a:t>
            </a:r>
          </a:p>
          <a:p>
            <a:pPr marL="0" indent="0">
              <a:buNone/>
            </a:pPr>
            <a:endParaRPr lang="en-US" sz="1800" dirty="0">
              <a:latin typeface="Calibri" panose="020F0502020204030204" pitchFamily="34" charset="0"/>
              <a:cs typeface="Calibri" panose="020F0502020204030204" pitchFamily="34" charset="0"/>
            </a:endParaRPr>
          </a:p>
        </p:txBody>
      </p:sp>
      <p:sp>
        <p:nvSpPr>
          <p:cNvPr id="5" name="Content Placeholder 2">
            <a:extLst>
              <a:ext uri="{FF2B5EF4-FFF2-40B4-BE49-F238E27FC236}">
                <a16:creationId xmlns:a16="http://schemas.microsoft.com/office/drawing/2014/main" id="{EE192972-FB6C-BEB7-5B9C-F3ADFA35B46E}"/>
              </a:ext>
            </a:extLst>
          </p:cNvPr>
          <p:cNvSpPr txBox="1">
            <a:spLocks/>
          </p:cNvSpPr>
          <p:nvPr/>
        </p:nvSpPr>
        <p:spPr>
          <a:xfrm>
            <a:off x="6680200" y="3881122"/>
            <a:ext cx="4648200" cy="26060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Font typeface="Arial" panose="020B0604020202020204" pitchFamily="34" charset="0"/>
              <a:buNone/>
            </a:pPr>
            <a:r>
              <a:rPr lang="en-US" sz="1800" b="1" dirty="0">
                <a:latin typeface="Calibri" panose="020F0502020204030204" pitchFamily="34" charset="0"/>
                <a:cs typeface="Calibri" panose="020F0502020204030204" pitchFamily="34" charset="0"/>
              </a:rPr>
              <a:t>Games where Maxey attempted at least one 3:</a:t>
            </a:r>
          </a:p>
          <a:p>
            <a:pPr marL="0" indent="0">
              <a:buFont typeface="Arial" panose="020B0604020202020204" pitchFamily="34" charset="0"/>
              <a:buNone/>
            </a:pPr>
            <a:r>
              <a:rPr lang="en-US" sz="1800" dirty="0">
                <a:latin typeface="Calibri" panose="020F0502020204030204" pitchFamily="34" charset="0"/>
                <a:cs typeface="Calibri" panose="020F0502020204030204" pitchFamily="34" charset="0"/>
              </a:rPr>
              <a:t>2020–21: 61 games</a:t>
            </a:r>
          </a:p>
          <a:p>
            <a:pPr marL="0" indent="0">
              <a:buFont typeface="Arial" panose="020B0604020202020204" pitchFamily="34" charset="0"/>
              <a:buNone/>
            </a:pPr>
            <a:r>
              <a:rPr lang="en-US" sz="1800" dirty="0">
                <a:latin typeface="Calibri" panose="020F0502020204030204" pitchFamily="34" charset="0"/>
                <a:cs typeface="Calibri" panose="020F0502020204030204" pitchFamily="34" charset="0"/>
              </a:rPr>
              <a:t>2021–22: 75 games</a:t>
            </a:r>
          </a:p>
          <a:p>
            <a:pPr marL="0" indent="0">
              <a:buFont typeface="Arial" panose="020B0604020202020204" pitchFamily="34" charset="0"/>
              <a:buNone/>
            </a:pPr>
            <a:r>
              <a:rPr lang="en-US" sz="1800" dirty="0">
                <a:latin typeface="Calibri" panose="020F0502020204030204" pitchFamily="34" charset="0"/>
                <a:cs typeface="Calibri" panose="020F0502020204030204" pitchFamily="34" charset="0"/>
              </a:rPr>
              <a:t>2022–23: 60 games (missed 22 games – injury)</a:t>
            </a:r>
          </a:p>
          <a:p>
            <a:pPr marL="0" indent="0">
              <a:buFont typeface="Arial" panose="020B0604020202020204" pitchFamily="34" charset="0"/>
              <a:buNone/>
            </a:pPr>
            <a:r>
              <a:rPr lang="en-US" sz="1800" dirty="0">
                <a:latin typeface="Calibri" panose="020F0502020204030204" pitchFamily="34" charset="0"/>
                <a:cs typeface="Calibri" panose="020F0502020204030204" pitchFamily="34" charset="0"/>
              </a:rPr>
              <a:t>2023–24: 70 games (missed 12 games – injury)</a:t>
            </a:r>
          </a:p>
          <a:p>
            <a:pPr marL="0" indent="0">
              <a:buFont typeface="Arial" panose="020B0604020202020204" pitchFamily="34" charset="0"/>
              <a:buNone/>
            </a:pPr>
            <a:r>
              <a:rPr lang="en-US" sz="1800" dirty="0">
                <a:latin typeface="Calibri" panose="020F0502020204030204" pitchFamily="34" charset="0"/>
                <a:cs typeface="Calibri" panose="020F0502020204030204" pitchFamily="34" charset="0"/>
              </a:rPr>
              <a:t>2024–25: 52 games (missed 30 games – injury)</a:t>
            </a:r>
          </a:p>
          <a:p>
            <a:pPr marL="0" indent="0">
              <a:buFont typeface="Arial" panose="020B0604020202020204" pitchFamily="34" charset="0"/>
              <a:buNone/>
            </a:pPr>
            <a:endParaRPr lang="en-US" sz="1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E5E3526-16CD-3348-4C72-BF3049C536E0}"/>
              </a:ext>
            </a:extLst>
          </p:cNvPr>
          <p:cNvSpPr txBox="1"/>
          <p:nvPr/>
        </p:nvSpPr>
        <p:spPr>
          <a:xfrm>
            <a:off x="1790700" y="2190709"/>
            <a:ext cx="8610600" cy="1015663"/>
          </a:xfrm>
          <a:prstGeom prst="rect">
            <a:avLst/>
          </a:prstGeom>
          <a:noFill/>
        </p:spPr>
        <p:txBody>
          <a:bodyPr wrap="square">
            <a:spAutoFit/>
          </a:bodyPr>
          <a:lstStyle/>
          <a:p>
            <a:pPr algn="ctr"/>
            <a:r>
              <a:rPr lang="en-US" sz="2000" dirty="0">
                <a:latin typeface="Calibri" panose="020F0502020204030204" pitchFamily="34" charset="0"/>
                <a:cs typeface="Calibri" panose="020F0502020204030204" pitchFamily="34" charset="0"/>
              </a:rPr>
              <a:t>The original data set includes every regular-season game the Sixers played during Maxey’s career. For this project, I focus on the subset of games in which he attempted at least one three-pointer.</a:t>
            </a:r>
          </a:p>
        </p:txBody>
      </p:sp>
    </p:spTree>
    <p:extLst>
      <p:ext uri="{BB962C8B-B14F-4D97-AF65-F5344CB8AC3E}">
        <p14:creationId xmlns:p14="http://schemas.microsoft.com/office/powerpoint/2010/main" val="269487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A2063-D2B2-DE6B-F3AE-963355022CCE}"/>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Research Questions</a:t>
            </a:r>
          </a:p>
        </p:txBody>
      </p:sp>
      <p:sp>
        <p:nvSpPr>
          <p:cNvPr id="3" name="Content Placeholder 2">
            <a:extLst>
              <a:ext uri="{FF2B5EF4-FFF2-40B4-BE49-F238E27FC236}">
                <a16:creationId xmlns:a16="http://schemas.microsoft.com/office/drawing/2014/main" id="{62FC41F1-D0E3-B268-7C44-348ED9F93964}"/>
              </a:ext>
            </a:extLst>
          </p:cNvPr>
          <p:cNvSpPr>
            <a:spLocks noGrp="1"/>
          </p:cNvSpPr>
          <p:nvPr>
            <p:ph idx="1"/>
          </p:nvPr>
        </p:nvSpPr>
        <p:spPr>
          <a:xfrm>
            <a:off x="508000" y="2057401"/>
            <a:ext cx="11176000" cy="4422140"/>
          </a:xfrm>
        </p:spPr>
        <p:txBody>
          <a:bodyPr>
            <a:normAutofit fontScale="92500" lnSpcReduction="10000"/>
          </a:bodyPr>
          <a:lstStyle/>
          <a:p>
            <a:pPr marL="0" indent="0">
              <a:buNone/>
            </a:pPr>
            <a:r>
              <a:rPr lang="en-US" sz="1600" b="1" dirty="0">
                <a:latin typeface="Calibri" panose="020F0502020204030204" pitchFamily="34" charset="0"/>
                <a:cs typeface="Calibri" panose="020F0502020204030204" pitchFamily="34" charset="0"/>
              </a:rPr>
              <a:t>Research Question 1: Seasons</a:t>
            </a:r>
            <a:endParaRPr lang="en-US" sz="1600" dirty="0">
              <a:latin typeface="Calibri" panose="020F0502020204030204" pitchFamily="34" charset="0"/>
              <a:cs typeface="Calibri" panose="020F0502020204030204" pitchFamily="34" charset="0"/>
            </a:endParaRPr>
          </a:p>
          <a:p>
            <a:pPr marL="0" indent="0">
              <a:buNone/>
            </a:pPr>
            <a:r>
              <a:rPr lang="en-US" sz="1600" dirty="0">
                <a:latin typeface="Calibri" panose="020F0502020204030204" pitchFamily="34" charset="0"/>
                <a:cs typeface="Calibri" panose="020F0502020204030204" pitchFamily="34" charset="0"/>
              </a:rPr>
              <a:t>Are there differences in Maxey’s 3P% across seasons?</a:t>
            </a:r>
          </a:p>
          <a:p>
            <a:r>
              <a:rPr lang="en-US" sz="1600" dirty="0">
                <a:latin typeface="Calibri" panose="020F0502020204030204" pitchFamily="34" charset="0"/>
                <a:cs typeface="Calibri" panose="020F0502020204030204" pitchFamily="34" charset="0"/>
              </a:rPr>
              <a:t>H₀: Maxey’s mean 3P% is the same in every season</a:t>
            </a:r>
          </a:p>
          <a:p>
            <a:r>
              <a:rPr lang="en-US" sz="1600" dirty="0">
                <a:latin typeface="Calibri" panose="020F0502020204030204" pitchFamily="34" charset="0"/>
                <a:cs typeface="Calibri" panose="020F0502020204030204" pitchFamily="34" charset="0"/>
              </a:rPr>
              <a:t>H₁: At least one season has a different mean 3P%</a:t>
            </a:r>
          </a:p>
          <a:p>
            <a:pPr marL="0" indent="0">
              <a:buNone/>
            </a:pPr>
            <a:endParaRPr lang="en-US" sz="1600" dirty="0">
              <a:latin typeface="Calibri" panose="020F0502020204030204" pitchFamily="34" charset="0"/>
              <a:cs typeface="Calibri" panose="020F0502020204030204" pitchFamily="34" charset="0"/>
            </a:endParaRPr>
          </a:p>
          <a:p>
            <a:pPr marL="0" indent="0">
              <a:buNone/>
            </a:pPr>
            <a:r>
              <a:rPr lang="en-US" sz="1600" b="1" dirty="0">
                <a:latin typeface="Calibri" panose="020F0502020204030204" pitchFamily="34" charset="0"/>
                <a:cs typeface="Calibri" panose="020F0502020204030204" pitchFamily="34" charset="0"/>
              </a:rPr>
              <a:t>Research Question 2: Conferences</a:t>
            </a:r>
            <a:endParaRPr lang="en-US" sz="1600" dirty="0">
              <a:latin typeface="Calibri" panose="020F0502020204030204" pitchFamily="34" charset="0"/>
              <a:cs typeface="Calibri" panose="020F0502020204030204" pitchFamily="34" charset="0"/>
            </a:endParaRPr>
          </a:p>
          <a:p>
            <a:pPr marL="0" indent="0">
              <a:buNone/>
            </a:pPr>
            <a:r>
              <a:rPr lang="en-US" sz="1600" dirty="0">
                <a:latin typeface="Calibri" panose="020F0502020204030204" pitchFamily="34" charset="0"/>
                <a:cs typeface="Calibri" panose="020F0502020204030204" pitchFamily="34" charset="0"/>
              </a:rPr>
              <a:t>Does Maxey’s three-point efficiency differ between Eastern and Western Conference opponents?</a:t>
            </a:r>
          </a:p>
          <a:p>
            <a:r>
              <a:rPr lang="en-US" sz="1600" dirty="0">
                <a:latin typeface="Calibri" panose="020F0502020204030204" pitchFamily="34" charset="0"/>
                <a:cs typeface="Calibri" panose="020F0502020204030204" pitchFamily="34" charset="0"/>
              </a:rPr>
              <a:t>H₀: Maxey’s mean 3P% vs Eastern Conference teams equals his mean 3P% vs Western Conference teams</a:t>
            </a:r>
          </a:p>
          <a:p>
            <a:r>
              <a:rPr lang="en-US" sz="1600" dirty="0">
                <a:latin typeface="Calibri" panose="020F0502020204030204" pitchFamily="34" charset="0"/>
                <a:cs typeface="Calibri" panose="020F0502020204030204" pitchFamily="34" charset="0"/>
              </a:rPr>
              <a:t>H₁: Maxey’s mean 3P% differs between Eastern and Western Conference opponents</a:t>
            </a:r>
          </a:p>
          <a:p>
            <a:pPr marL="0" indent="0">
              <a:buNone/>
            </a:pPr>
            <a:endParaRPr lang="en-US" sz="1600" dirty="0">
              <a:latin typeface="Calibri" panose="020F0502020204030204" pitchFamily="34" charset="0"/>
              <a:cs typeface="Calibri" panose="020F0502020204030204" pitchFamily="34" charset="0"/>
            </a:endParaRPr>
          </a:p>
          <a:p>
            <a:pPr marL="0" indent="0">
              <a:buNone/>
            </a:pPr>
            <a:r>
              <a:rPr lang="en-US" sz="1600" b="1" dirty="0">
                <a:latin typeface="Calibri" panose="020F0502020204030204" pitchFamily="34" charset="0"/>
                <a:cs typeface="Calibri" panose="020F0502020204030204" pitchFamily="34" charset="0"/>
              </a:rPr>
              <a:t>Research Question 3: Career trend</a:t>
            </a:r>
            <a:endParaRPr lang="en-US" sz="1600" dirty="0">
              <a:latin typeface="Calibri" panose="020F0502020204030204" pitchFamily="34" charset="0"/>
              <a:cs typeface="Calibri" panose="020F0502020204030204" pitchFamily="34" charset="0"/>
            </a:endParaRPr>
          </a:p>
          <a:p>
            <a:pPr marL="0" indent="0">
              <a:buNone/>
            </a:pPr>
            <a:r>
              <a:rPr lang="en-US" sz="1600" dirty="0">
                <a:latin typeface="Calibri" panose="020F0502020204030204" pitchFamily="34" charset="0"/>
                <a:cs typeface="Calibri" panose="020F0502020204030204" pitchFamily="34" charset="0"/>
              </a:rPr>
              <a:t>Has Maxey’s three-point percentage improved, declined, or remained consistent over his career?</a:t>
            </a:r>
          </a:p>
          <a:p>
            <a:r>
              <a:rPr lang="en-US" sz="1600" dirty="0">
                <a:latin typeface="Calibri" panose="020F0502020204030204" pitchFamily="34" charset="0"/>
                <a:cs typeface="Calibri" panose="020F0502020204030204" pitchFamily="34" charset="0"/>
              </a:rPr>
              <a:t>H₀: There is no trend in Maxey’s 3P% across seasons</a:t>
            </a:r>
          </a:p>
          <a:p>
            <a:r>
              <a:rPr lang="en-US" sz="1600" dirty="0">
                <a:latin typeface="Calibri" panose="020F0502020204030204" pitchFamily="34" charset="0"/>
                <a:cs typeface="Calibri" panose="020F0502020204030204" pitchFamily="34" charset="0"/>
              </a:rPr>
              <a:t>H₁: </a:t>
            </a:r>
            <a:r>
              <a:rPr lang="en-US" sz="1600" dirty="0"/>
              <a:t>Maxey’s 3P% shows a trend over seasons</a:t>
            </a:r>
            <a:endParaRPr lang="en-US" sz="1600" dirty="0">
              <a:latin typeface="Calibri" panose="020F0502020204030204" pitchFamily="34" charset="0"/>
              <a:cs typeface="Calibri" panose="020F0502020204030204" pitchFamily="34" charset="0"/>
            </a:endParaRPr>
          </a:p>
          <a:p>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2237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15CB8-759B-046B-CB21-4F8075CDB267}"/>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Research Question 1: Seasons</a:t>
            </a:r>
          </a:p>
        </p:txBody>
      </p:sp>
      <p:pic>
        <p:nvPicPr>
          <p:cNvPr id="18" name="Content Placeholder 17" descr="A graph with blue and green squares&#10;&#10;AI-generated content may be incorrect.">
            <a:extLst>
              <a:ext uri="{FF2B5EF4-FFF2-40B4-BE49-F238E27FC236}">
                <a16:creationId xmlns:a16="http://schemas.microsoft.com/office/drawing/2014/main" id="{64610C68-08FF-013A-D739-735379DA48CE}"/>
              </a:ext>
            </a:extLst>
          </p:cNvPr>
          <p:cNvPicPr>
            <a:picLocks noGrp="1" noChangeAspect="1"/>
          </p:cNvPicPr>
          <p:nvPr>
            <p:ph idx="1"/>
          </p:nvPr>
        </p:nvPicPr>
        <p:blipFill>
          <a:blip r:embed="rId2"/>
          <a:stretch>
            <a:fillRect/>
          </a:stretch>
        </p:blipFill>
        <p:spPr>
          <a:xfrm>
            <a:off x="4764234" y="4119055"/>
            <a:ext cx="3402446" cy="2582286"/>
          </a:xfrm>
        </p:spPr>
      </p:pic>
      <p:pic>
        <p:nvPicPr>
          <p:cNvPr id="2050" name="Picture 2">
            <a:extLst>
              <a:ext uri="{FF2B5EF4-FFF2-40B4-BE49-F238E27FC236}">
                <a16:creationId xmlns:a16="http://schemas.microsoft.com/office/drawing/2014/main" id="{7CE52B7E-77C6-6E96-591D-172E7921C6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6154" y="1889908"/>
            <a:ext cx="3402446" cy="2343895"/>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a:extLst>
              <a:ext uri="{FF2B5EF4-FFF2-40B4-BE49-F238E27FC236}">
                <a16:creationId xmlns:a16="http://schemas.microsoft.com/office/drawing/2014/main" id="{DC89C317-8E6A-1F1C-D3F7-0FB3A45CD9F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a:extLst>
              <a:ext uri="{FF2B5EF4-FFF2-40B4-BE49-F238E27FC236}">
                <a16:creationId xmlns:a16="http://schemas.microsoft.com/office/drawing/2014/main" id="{5BE34059-6C5F-7F3C-D493-616078FCD1D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8">
            <a:extLst>
              <a:ext uri="{FF2B5EF4-FFF2-40B4-BE49-F238E27FC236}">
                <a16:creationId xmlns:a16="http://schemas.microsoft.com/office/drawing/2014/main" id="{36856C16-9401-67E2-262F-D53D43ECFF85}"/>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a:extLst>
              <a:ext uri="{FF2B5EF4-FFF2-40B4-BE49-F238E27FC236}">
                <a16:creationId xmlns:a16="http://schemas.microsoft.com/office/drawing/2014/main" id="{4FB4BDBA-A891-7A4C-103E-559905408A5D}"/>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14">
            <a:extLst>
              <a:ext uri="{FF2B5EF4-FFF2-40B4-BE49-F238E27FC236}">
                <a16:creationId xmlns:a16="http://schemas.microsoft.com/office/drawing/2014/main" id="{7A563F1D-AB5B-B61D-93C7-664BEF496792}"/>
              </a:ext>
            </a:extLst>
          </p:cNvPr>
          <p:cNvSpPr>
            <a:spLocks noChangeAspect="1" noChangeArrowheads="1"/>
          </p:cNvSpPr>
          <p:nvPr/>
        </p:nvSpPr>
        <p:spPr bwMode="auto">
          <a:xfrm>
            <a:off x="4680439" y="3886199"/>
            <a:ext cx="2177562" cy="217756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16">
            <a:extLst>
              <a:ext uri="{FF2B5EF4-FFF2-40B4-BE49-F238E27FC236}">
                <a16:creationId xmlns:a16="http://schemas.microsoft.com/office/drawing/2014/main" id="{89F1B578-CA32-2624-CAFB-A627E3C5F513}"/>
              </a:ext>
            </a:extLst>
          </p:cNvPr>
          <p:cNvSpPr>
            <a:spLocks noChangeAspect="1" noChangeArrowheads="1"/>
          </p:cNvSpPr>
          <p:nvPr/>
        </p:nvSpPr>
        <p:spPr bwMode="auto">
          <a:xfrm>
            <a:off x="6553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TextBox 18">
            <a:extLst>
              <a:ext uri="{FF2B5EF4-FFF2-40B4-BE49-F238E27FC236}">
                <a16:creationId xmlns:a16="http://schemas.microsoft.com/office/drawing/2014/main" id="{10A4FBE1-F5D6-ED14-83A0-B4670721EE54}"/>
              </a:ext>
            </a:extLst>
          </p:cNvPr>
          <p:cNvSpPr txBox="1"/>
          <p:nvPr/>
        </p:nvSpPr>
        <p:spPr>
          <a:xfrm>
            <a:off x="476247" y="2330440"/>
            <a:ext cx="4000502" cy="341632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Average 3P% peaks in 2021–22 and 2022–23, then declines slightly in 2023–24 and 2024–25</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ANOVA indicates significant differences in mean 3P% across seasons (F = 2.56, p ≈ 0.039), so we reject H₀ that all seasons are identical.</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 squared is small (</a:t>
            </a:r>
            <a:r>
              <a:rPr lang="el-GR" dirty="0">
                <a:latin typeface="Calibri" panose="020F0502020204030204" pitchFamily="34" charset="0"/>
                <a:cs typeface="Calibri" panose="020F0502020204030204" pitchFamily="34" charset="0"/>
              </a:rPr>
              <a:t>η² ≈ 0.03), </a:t>
            </a:r>
            <a:r>
              <a:rPr lang="en-US" dirty="0">
                <a:latin typeface="Calibri" panose="020F0502020204030204" pitchFamily="34" charset="0"/>
                <a:cs typeface="Calibri" panose="020F0502020204030204" pitchFamily="34" charset="0"/>
              </a:rPr>
              <a:t>meaning season-to-season differences only explain a small portion of his overall 3P% variation</a:t>
            </a:r>
          </a:p>
        </p:txBody>
      </p:sp>
    </p:spTree>
    <p:extLst>
      <p:ext uri="{BB962C8B-B14F-4D97-AF65-F5344CB8AC3E}">
        <p14:creationId xmlns:p14="http://schemas.microsoft.com/office/powerpoint/2010/main" val="3456143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8518C-886F-7A87-0DB7-2ABFF6935266}"/>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Research Question 2: Conferences</a:t>
            </a:r>
            <a:endParaRPr lang="en-US" dirty="0"/>
          </a:p>
        </p:txBody>
      </p:sp>
      <p:sp>
        <p:nvSpPr>
          <p:cNvPr id="7" name="Content Placeholder 6">
            <a:extLst>
              <a:ext uri="{FF2B5EF4-FFF2-40B4-BE49-F238E27FC236}">
                <a16:creationId xmlns:a16="http://schemas.microsoft.com/office/drawing/2014/main" id="{29FF2282-A994-BEA1-F6B1-7AEBB4ED8522}"/>
              </a:ext>
            </a:extLst>
          </p:cNvPr>
          <p:cNvSpPr>
            <a:spLocks noGrp="1"/>
          </p:cNvSpPr>
          <p:nvPr>
            <p:ph idx="1"/>
          </p:nvPr>
        </p:nvSpPr>
        <p:spPr>
          <a:xfrm>
            <a:off x="419100" y="2894005"/>
            <a:ext cx="6400800" cy="2466340"/>
          </a:xfrm>
        </p:spPr>
        <p:txBody>
          <a:bodyPr>
            <a:normAutofit/>
          </a:bodyPr>
          <a:lstStyle/>
          <a:p>
            <a:r>
              <a:rPr lang="en-US" sz="1800" dirty="0">
                <a:latin typeface="Calibri" panose="020F0502020204030204" pitchFamily="34" charset="0"/>
                <a:cs typeface="Calibri" panose="020F0502020204030204" pitchFamily="34" charset="0"/>
              </a:rPr>
              <a:t>Maxey’s average 3P% vs Eastern Conference teams is very similar to his average vs Western Conference teams</a:t>
            </a:r>
          </a:p>
          <a:p>
            <a:r>
              <a:rPr lang="en-US" sz="1800" dirty="0">
                <a:latin typeface="Calibri" panose="020F0502020204030204" pitchFamily="34" charset="0"/>
                <a:cs typeface="Calibri" panose="020F0502020204030204" pitchFamily="34" charset="0"/>
              </a:rPr>
              <a:t>The conference ANOVA is not statistically significant (p ≈ 0.89), so we fail to reject H₀: there is no evidence of a conference-based difference in his 3P%</a:t>
            </a:r>
          </a:p>
          <a:p>
            <a:r>
              <a:rPr lang="en-US" sz="1800" dirty="0">
                <a:latin typeface="Calibri" panose="020F0502020204030204" pitchFamily="34" charset="0"/>
                <a:cs typeface="Calibri" panose="020F0502020204030204" pitchFamily="34" charset="0"/>
              </a:rPr>
              <a:t>Maxey’s three-point efficiency is consistent regardless of conference</a:t>
            </a:r>
          </a:p>
        </p:txBody>
      </p:sp>
      <p:pic>
        <p:nvPicPr>
          <p:cNvPr id="3076" name="Picture 4">
            <a:extLst>
              <a:ext uri="{FF2B5EF4-FFF2-40B4-BE49-F238E27FC236}">
                <a16:creationId xmlns:a16="http://schemas.microsoft.com/office/drawing/2014/main" id="{F1997101-58A5-65E4-B03F-CE22BC941F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7724" y="1855145"/>
            <a:ext cx="3188594" cy="228759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8894CC35-E5E6-4617-4996-7A8DFBA6AF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1382" y="4404727"/>
            <a:ext cx="3291032" cy="2287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489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6452E-CCB6-11CF-8FD3-04D347DC4A6B}"/>
              </a:ext>
            </a:extLst>
          </p:cNvPr>
          <p:cNvSpPr>
            <a:spLocks noGrp="1"/>
          </p:cNvSpPr>
          <p:nvPr>
            <p:ph type="title"/>
          </p:nvPr>
        </p:nvSpPr>
        <p:spPr>
          <a:xfrm>
            <a:off x="2895600" y="764373"/>
            <a:ext cx="8610600" cy="1293028"/>
          </a:xfrm>
        </p:spPr>
        <p:txBody>
          <a:bodyPr>
            <a:normAutofit/>
          </a:bodyPr>
          <a:lstStyle/>
          <a:p>
            <a:r>
              <a:rPr lang="en-US">
                <a:latin typeface="Calibri" panose="020F0502020204030204" pitchFamily="34" charset="0"/>
                <a:cs typeface="Calibri" panose="020F0502020204030204" pitchFamily="34" charset="0"/>
              </a:rPr>
              <a:t>Research Question 3: Career trend</a:t>
            </a:r>
            <a:endParaRPr lang="en-US" dirty="0"/>
          </a:p>
        </p:txBody>
      </p:sp>
      <p:sp>
        <p:nvSpPr>
          <p:cNvPr id="3" name="Content Placeholder 2">
            <a:extLst>
              <a:ext uri="{FF2B5EF4-FFF2-40B4-BE49-F238E27FC236}">
                <a16:creationId xmlns:a16="http://schemas.microsoft.com/office/drawing/2014/main" id="{6BD193E1-D3C2-64CD-5A68-9EACE616D5BF}"/>
              </a:ext>
            </a:extLst>
          </p:cNvPr>
          <p:cNvSpPr>
            <a:spLocks noGrp="1"/>
          </p:cNvSpPr>
          <p:nvPr>
            <p:ph idx="1"/>
          </p:nvPr>
        </p:nvSpPr>
        <p:spPr>
          <a:xfrm>
            <a:off x="677333" y="2194560"/>
            <a:ext cx="5816600" cy="4024125"/>
          </a:xfrm>
        </p:spPr>
        <p:txBody>
          <a:bodyPr>
            <a:normAutofit/>
          </a:bodyPr>
          <a:lstStyle/>
          <a:p>
            <a:r>
              <a:rPr lang="en-US" sz="1800" dirty="0">
                <a:latin typeface="Calibri" panose="020F0502020204030204" pitchFamily="34" charset="0"/>
                <a:cs typeface="Calibri" panose="020F0502020204030204" pitchFamily="34" charset="0"/>
              </a:rPr>
              <a:t>Season averages show a big jump in 3P% from 2020–21 to 2021–22, followed by very similar efficiency in 2021–22 and 2022–23</a:t>
            </a:r>
          </a:p>
          <a:p>
            <a:r>
              <a:rPr lang="en-US" sz="1800" dirty="0">
                <a:latin typeface="Calibri" panose="020F0502020204030204" pitchFamily="34" charset="0"/>
                <a:cs typeface="Calibri" panose="020F0502020204030204" pitchFamily="34" charset="0"/>
              </a:rPr>
              <a:t>After 2022–23, his 3P% declines slightly in 2023–24 and again in 2024–25, even as his shot volume increases.</a:t>
            </a:r>
          </a:p>
          <a:p>
            <a:r>
              <a:rPr lang="en-US" sz="1800" dirty="0">
                <a:latin typeface="Calibri" panose="020F0502020204030204" pitchFamily="34" charset="0"/>
                <a:cs typeface="Calibri" panose="020F0502020204030204" pitchFamily="34" charset="0"/>
              </a:rPr>
              <a:t>The exponential smoothing line rises sharply early in his career and then slopes gently downward, suggesting no strong upward trend in recent seasons</a:t>
            </a:r>
          </a:p>
          <a:p>
            <a:r>
              <a:rPr lang="en-US" sz="1800" dirty="0">
                <a:latin typeface="Calibri" panose="020F0502020204030204" pitchFamily="34" charset="0"/>
                <a:cs typeface="Calibri" panose="020F0502020204030204" pitchFamily="34" charset="0"/>
              </a:rPr>
              <a:t>There are many possible reasons for the small dip in the last two seasons, things like role change, increased volume, or injuries, but this analysis doesn’t directly test those explanations</a:t>
            </a:r>
          </a:p>
        </p:txBody>
      </p:sp>
      <p:pic>
        <p:nvPicPr>
          <p:cNvPr id="4098" name="Picture 2" descr="A graph with blue and orange lines&#10;&#10;AI-generated content may be incorrect.">
            <a:extLst>
              <a:ext uri="{FF2B5EF4-FFF2-40B4-BE49-F238E27FC236}">
                <a16:creationId xmlns:a16="http://schemas.microsoft.com/office/drawing/2014/main" id="{3C3DDCBE-DF5E-BF26-F03E-B59253C118F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85000" y="2583466"/>
            <a:ext cx="4521200" cy="3017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935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A89AC-3F53-5473-36AD-EEF96E8BDBDB}"/>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4863CC18-6BC9-5D14-CD68-7D289BB44C6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30702317"/>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Vapor Trail</Template>
  <TotalTime>1778</TotalTime>
  <Words>746</Words>
  <Application>Microsoft Macintosh PowerPoint</Application>
  <PresentationFormat>Widescreen</PresentationFormat>
  <Paragraphs>75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Century Gothic</vt:lpstr>
      <vt:lpstr>Vapor Trail</vt:lpstr>
      <vt:lpstr>Analyzing Tyrese Maxey’s 3-point Performance</vt:lpstr>
      <vt:lpstr>Introducing my data set</vt:lpstr>
      <vt:lpstr>Cleaned Data Overview</vt:lpstr>
      <vt:lpstr>Descriptive statistics</vt:lpstr>
      <vt:lpstr>Research Questions</vt:lpstr>
      <vt:lpstr>Research Question 1: Seasons</vt:lpstr>
      <vt:lpstr>Research Question 2: Conferences</vt:lpstr>
      <vt:lpstr>Research Question 3: Career trend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Allen,Marcel</dc:creator>
  <cp:lastModifiedBy>Allen,Marcel</cp:lastModifiedBy>
  <cp:revision>3</cp:revision>
  <dcterms:created xsi:type="dcterms:W3CDTF">2025-12-11T04:58:00Z</dcterms:created>
  <dcterms:modified xsi:type="dcterms:W3CDTF">2025-12-12T17:05:15Z</dcterms:modified>
</cp:coreProperties>
</file>